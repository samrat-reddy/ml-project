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0F4F8"/>
                </a:solidFill>
              </a:defRPr>
            </a:pPr>
            <a:r>
              <a:t>ANOMALY-BASED</a:t>
            </a:r>
            <a:br/>
            <a:r>
              <a:t>INTRUSION DETECTION SYSTEM</a:t>
            </a:r>
          </a:p>
          <a:p>
            <a:pPr>
              <a:spcBef>
                <a:spcPts val="1200"/>
              </a:spcBef>
              <a:defRPr sz="2300">
                <a:solidFill>
                  <a:srgbClr val="46DCD2"/>
                </a:solidFill>
              </a:defRPr>
            </a:pPr>
            <a:r>
              <a:t>Using DBSCAN and Isolation Forest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9476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4F8"/>
                </a:solidFill>
              </a:defRPr>
            </a:pPr>
            <a:r>
              <a:t>Mini Hackathon 1 — Machine Learning</a:t>
            </a:r>
          </a:p>
          <a:p>
            <a:pPr>
              <a:spcAft>
                <a:spcPts val="1300"/>
              </a:spcAft>
              <a:defRPr sz="1800">
                <a:solidFill>
                  <a:srgbClr val="F0F4F8"/>
                </a:solidFill>
              </a:defRPr>
            </a:pPr>
            <a:r>
              <a:t>Samrat Reddy  |  2520030131     Nihal Metuku  |  2520030124</a:t>
            </a:r>
          </a:p>
          <a:p>
            <a:pPr>
              <a:spcAft>
                <a:spcPts val="1300"/>
              </a:spcAft>
              <a:defRPr sz="1800">
                <a:solidFill>
                  <a:srgbClr val="F0F4F8"/>
                </a:solidFill>
              </a:defRPr>
            </a:pPr>
            <a:r>
              <a:t>Guide: Dr. Shaik Asif, Assistant Professor, CSE</a:t>
            </a:r>
          </a:p>
          <a:p>
            <a:pPr>
              <a:spcAft>
                <a:spcPts val="1300"/>
              </a:spcAft>
              <a:defRPr sz="1800">
                <a:solidFill>
                  <a:srgbClr val="F0F4F8"/>
                </a:solidFill>
              </a:defRPr>
            </a:pPr>
            <a:r>
              <a:t>A.Y.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FB9C6"/>
                </a:solidFill>
              </a:defRPr>
            </a:pPr>
            <a:r>
              <a:t>Why anomaly-based intrusion detection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Traditional signature-based IDS rely on predefined attack patterns.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Known attacks can be detected effectively, but new, evolving and zero-day threats may bypass fixed signatures.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Anomaly-based detection instead learns patterns of normal network behavior and flags deviations as potential intrusions.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Our project explores this approach using CIC-IDS2017 and prepares the data for DBSCAN and Isolation Forest.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82880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6DCD2"/>
                </a:solidFill>
              </a:defRPr>
            </a:pPr>
            <a:r>
              <a:t>01  Explore</a:t>
            </a:r>
          </a:p>
          <a:p>
            <a:pPr>
              <a:spcBef>
                <a:spcPts val="800"/>
              </a:spcBef>
              <a:defRPr sz="1700">
                <a:solidFill>
                  <a:srgbClr val="F0F4F8"/>
                </a:solidFill>
              </a:defRPr>
            </a:pPr>
            <a:r>
              <a:t>Understand network-flow characteristics and traffic labels in CIC-IDS2017.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74720" cy="182880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6DCD2"/>
                </a:solidFill>
              </a:defRPr>
            </a:pPr>
            <a:r>
              <a:t>02  Prepare</a:t>
            </a:r>
          </a:p>
          <a:p>
            <a:pPr>
              <a:spcBef>
                <a:spcPts val="800"/>
              </a:spcBef>
              <a:defRPr sz="1700">
                <a:solidFill>
                  <a:srgbClr val="F0F4F8"/>
                </a:solidFill>
              </a:defRPr>
            </a:pPr>
            <a:r>
              <a:t>Clean, analyze and prepare numerical traffic features for anomaly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74720" cy="182880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6DCD2"/>
                </a:solidFill>
              </a:defRPr>
            </a:pPr>
            <a:r>
              <a:t>03  Detect</a:t>
            </a:r>
          </a:p>
          <a:p>
            <a:pPr>
              <a:spcBef>
                <a:spcPts val="800"/>
              </a:spcBef>
              <a:defRPr sz="1700">
                <a:solidFill>
                  <a:srgbClr val="F0F4F8"/>
                </a:solidFill>
              </a:defRPr>
            </a:pPr>
            <a:r>
              <a:t>Use DBSCAN and Isolation Forest in the next stage to identify abnormal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Mini Hackathon 1 focus: establish a strong, evidence-based EDA foundation before model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Dataset — CIC-IDS2017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FB9C6"/>
                </a:solidFill>
              </a:defRPr>
            </a:pPr>
            <a:r>
              <a:t>Public network-intrusion dataset used for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347472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46DCD2"/>
                </a:solidFill>
              </a:defRPr>
            </a:pPr>
            <a:r>
              <a:t>Dataset characteristics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• Network-flow records with labeled traffic</a:t>
            </a:r>
            <a:br/>
            <a:r>
              <a:t>• 78 numerical features in our sampled data</a:t>
            </a:r>
            <a:br/>
            <a:r>
              <a:t>• 1 categorical target column: Label</a:t>
            </a:r>
            <a:br/>
            <a:r>
              <a:t>• Includes benign and multiple attack 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66360" cy="347472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46DCD2"/>
                </a:solidFill>
              </a:defRPr>
            </a:pPr>
            <a:r>
              <a:t>Files used in EDA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• 8 CIC-IDS2017 CSV files</a:t>
            </a:r>
            <a:br/>
            <a:r>
              <a:t>• 5,000 rows sampled from each file for the combined EDA dataset</a:t>
            </a:r>
            <a:br/>
            <a:r>
              <a:t>• A 10,000-row Monday sample was also used for initial exploration</a:t>
            </a:r>
            <a:br/>
            <a:r>
              <a:t>• Sampling kept the interactive VS Code workflow manageable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EDA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FB9C6"/>
                </a:solidFill>
              </a:defRPr>
            </a:pPr>
            <a:r>
              <a:t>From raw network traffic to interpretable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0F4F8"/>
                </a:solidFill>
              </a:defRPr>
            </a:pPr>
            <a:r>
              <a:t>01  Load &amp; inspect dataset</a:t>
            </a:r>
          </a:p>
          <a:p>
            <a:pPr>
              <a:spcAft>
                <a:spcPts val="1300"/>
              </a:spcAft>
              <a:defRPr sz="1900">
                <a:solidFill>
                  <a:srgbClr val="F0F4F8"/>
                </a:solidFill>
              </a:defRPr>
            </a:pPr>
            <a:r>
              <a:t>02  Check structure, types and descriptive statistics</a:t>
            </a:r>
          </a:p>
          <a:p>
            <a:pPr>
              <a:spcAft>
                <a:spcPts val="1300"/>
              </a:spcAft>
              <a:defRPr sz="1900">
                <a:solidFill>
                  <a:srgbClr val="F0F4F8"/>
                </a:solidFill>
              </a:defRPr>
            </a:pPr>
            <a:r>
              <a:t>03  Check missing values, duplicates and infinite values</a:t>
            </a:r>
          </a:p>
          <a:p>
            <a:pPr>
              <a:spcAft>
                <a:spcPts val="1300"/>
              </a:spcAft>
              <a:defRPr sz="1900">
                <a:solidFill>
                  <a:srgbClr val="F0F4F8"/>
                </a:solidFill>
              </a:defRPr>
            </a:pPr>
            <a:r>
              <a:t>04  Analyze labels and traffic distribution</a:t>
            </a:r>
          </a:p>
          <a:p>
            <a:pPr>
              <a:spcAft>
                <a:spcPts val="1300"/>
              </a:spcAft>
              <a:defRPr sz="1900">
                <a:solidFill>
                  <a:srgbClr val="F0F4F8"/>
                </a:solidFill>
              </a:defRPr>
            </a:pPr>
            <a:r>
              <a:t>05  Analyze feature ranges and distributions</a:t>
            </a:r>
          </a:p>
          <a:p>
            <a:pPr>
              <a:spcAft>
                <a:spcPts val="1300"/>
              </a:spcAft>
              <a:defRPr sz="1900">
                <a:solidFill>
                  <a:srgbClr val="F0F4F8"/>
                </a:solidFill>
              </a:defRPr>
            </a:pPr>
            <a:r>
              <a:t>06  Study feature correlations</a:t>
            </a:r>
          </a:p>
          <a:p>
            <a:pPr>
              <a:spcAft>
                <a:spcPts val="1300"/>
              </a:spcAft>
              <a:defRPr sz="1900">
                <a:solidFill>
                  <a:srgbClr val="F0F4F8"/>
                </a:solidFill>
              </a:defRPr>
            </a:pPr>
            <a:r>
              <a:t>07  Identify potential outliers</a:t>
            </a:r>
          </a:p>
          <a:p>
            <a:pPr>
              <a:spcAft>
                <a:spcPts val="1300"/>
              </a:spcAft>
              <a:defRPr sz="1900">
                <a:solidFill>
                  <a:srgbClr val="F0F4F8"/>
                </a:solidFill>
              </a:defRPr>
            </a:pPr>
            <a:r>
              <a:t>08  Summarize findings for the next ML stage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Dataset Structure &amp; Feature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6DCD2"/>
                </a:solidFill>
              </a:defRPr>
            </a:pPr>
            <a:r>
              <a:t>78</a:t>
            </a:r>
          </a:p>
          <a:p>
            <a:pPr>
              <a:spcBef>
                <a:spcPts val="800"/>
              </a:spcBef>
              <a:defRPr sz="1700">
                <a:solidFill>
                  <a:srgbClr val="F0F4F8"/>
                </a:solidFill>
              </a:defRPr>
            </a:pPr>
            <a:r>
              <a:t>Numerical network-flow features identified in the sampled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002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6DCD2"/>
                </a:solidFill>
              </a:defRPr>
            </a:pPr>
            <a:r>
              <a:t>1</a:t>
            </a:r>
          </a:p>
          <a:p>
            <a:pPr>
              <a:spcBef>
                <a:spcPts val="800"/>
              </a:spcBef>
              <a:defRPr sz="1700">
                <a:solidFill>
                  <a:srgbClr val="F0F4F8"/>
                </a:solidFill>
              </a:defRPr>
            </a:pPr>
            <a:r>
              <a:t>Non-numerical column: Label.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002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6DCD2"/>
                </a:solidFill>
              </a:defRPr>
            </a:pPr>
            <a:r>
              <a:t>10</a:t>
            </a:r>
          </a:p>
          <a:p>
            <a:pPr>
              <a:spcBef>
                <a:spcPts val="800"/>
              </a:spcBef>
              <a:defRPr sz="1700">
                <a:solidFill>
                  <a:srgbClr val="F0F4F8"/>
                </a:solidFill>
              </a:defRPr>
            </a:pPr>
            <a:r>
              <a:t>Zero-variance features found and removed from the modeling-ready sample.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Feature analysis showed substantial differences in feature ranges. This is important because distance-based methods such as DBSCAN can be strongly affected by feature scale.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Standardization was therefore included in the preprocessing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Data Quality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Missing values — checked across the sampled data.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Duplicate records — checked before modeling preparation.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Infinite values — explicitly checked because network-flow rate features can contain non-finite values.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Zero-variance features — 10 features had no variation in the sampled data and were removed.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Result: the feature matrix was cleaned and prepared for standardized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Traffic Label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FB9C6"/>
                </a:solidFill>
              </a:defRPr>
            </a:pPr>
            <a:r>
              <a:t>Understanding the target labels before anomaly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The Label column was isolated from the numerical feature matrix.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The combined sample was examined to understand the distribution of benign and attack traffic categories.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Label information is retained for evaluation and interpretation; it is not used as an input feature for the unsupervised anomaly models.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This distinction supports the project's anomaly-detection objective.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4754880"/>
            <a:ext cx="3200400" cy="100584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4937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6DCD2"/>
                </a:solidFill>
              </a:defRPr>
            </a:pPr>
            <a:r>
              <a:t>EDA takeaway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Know the traffic before modeling.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Feature Distribution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Selected network-flow features were examined through histograms, including Flow Duration, Total Fwd Packets, Total Backward Packets and Flow Bytes/s.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The distributions show that network traffic features can have very different scales and can be highly skewed.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These characteristics motivate cleaning and feature standardization before applying distance- or isolation-based anomaly methods.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92040"/>
            <a:ext cx="10332720" cy="96012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074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6DCD2"/>
                </a:solidFill>
              </a:defRPr>
            </a:pPr>
            <a:r>
              <a:t>Key insight</a:t>
            </a:r>
          </a:p>
          <a:p>
            <a:pPr>
              <a:spcBef>
                <a:spcPts val="800"/>
              </a:spcBef>
              <a:defRPr sz="1500">
                <a:solidFill>
                  <a:srgbClr val="F0F4F8"/>
                </a:solidFill>
              </a:defRPr>
            </a:pPr>
            <a:r>
              <a:t>Feature scale and skewness are central preprocessing considerations for DBSCAN and Isolation Forest.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FB9C6"/>
                </a:solidFill>
              </a:defRPr>
            </a:pPr>
            <a:r>
              <a:t>Relationships among selected network-flow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A correlation heatmap was created for selected traffic features.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The analysis helps identify strongly related variables and understand redundancy among flow statistics.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Correlation patterns provide context for later feature selection and dimensionality-reduction decisions.</a:t>
            </a:r>
          </a:p>
          <a:p>
            <a:pPr>
              <a:spcAft>
                <a:spcPts val="1300"/>
              </a:spcAft>
              <a:defRPr sz="2100">
                <a:solidFill>
                  <a:srgbClr val="F0F4F8"/>
                </a:solidFill>
              </a:defRPr>
            </a:pPr>
            <a:r>
              <a:t>PCA was also introduced for 2D visualization of the high-dimensional feature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10332720" cy="96012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074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6DCD2"/>
                </a:solidFill>
              </a:defRPr>
            </a:pPr>
            <a:r>
              <a:t>Why it matters</a:t>
            </a:r>
          </a:p>
          <a:p>
            <a:pPr>
              <a:spcBef>
                <a:spcPts val="800"/>
              </a:spcBef>
              <a:defRPr sz="1500">
                <a:solidFill>
                  <a:srgbClr val="F0F4F8"/>
                </a:solidFill>
              </a:defRPr>
            </a:pPr>
            <a:r>
              <a:t>Understanding feature relationships helps prevent blindly feeding all raw variables into the ML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Outlier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FB9C6"/>
                </a:solidFill>
              </a:defRPr>
            </a:pPr>
            <a:r>
              <a:t>IQR-based analysis of Flow 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Potential outliers were investigated using the Interquartile Range (IQR) method.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For Flow Duration, Q1 and Q3 were calculated and the standard 1.5 × IQR bounds were used to flag potential extreme observations.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Outliers are especially relevant to this project because unusual network-flow behavior is the central signal we want anomaly-detection methods to identify.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Important: statistical outliers are not automatically malicious attacks; they require model-based and label-based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"/>
          </a:xfrm>
          <a:prstGeom prst="rect">
            <a:avLst/>
          </a:prstGeom>
          <a:solidFill>
            <a:srgbClr val="46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Key Findings &amp; Next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FB9C6"/>
                </a:solidFill>
              </a:defRPr>
            </a:pPr>
            <a:r>
              <a:t>Mini Hackathon 1 EDA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CIC-IDS2017 provides a rich network-flow feature space suitable for anomaly-detection research.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EDA identified 78 numerical features and highlighted scale differences, correlations and potential outliers.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Data-quality checks and removal of zero-variance features produced a cleaner modeling foundation.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The next project phase is to demonstrate DBSCAN and Isolation Forest, then compare their anomaly-detection behavior using appropriate evaluation metrics.</a:t>
            </a:r>
          </a:p>
          <a:p>
            <a:pPr>
              <a:spcAft>
                <a:spcPts val="1300"/>
              </a:spcAft>
              <a:defRPr sz="2000">
                <a:solidFill>
                  <a:srgbClr val="F0F4F8"/>
                </a:solidFill>
              </a:defRPr>
            </a:pPr>
            <a:r>
              <a:t>For this Mini Hackathon stage, the EDA establishes the evidence and preprocessing foundation.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5349240"/>
            <a:ext cx="3017520" cy="594360"/>
          </a:xfrm>
          <a:prstGeom prst="roundRect">
            <a:avLst/>
          </a:prstGeom>
          <a:solidFill>
            <a:srgbClr val="161B25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5532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6DCD2"/>
                </a:solidFill>
              </a:defRPr>
            </a:pPr>
            <a:r>
              <a:t>Thank You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